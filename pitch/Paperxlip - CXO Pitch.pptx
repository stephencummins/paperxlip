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A3E0"/>
                </a:solidFill>
                <a:latin typeface="Calibri"/>
              </a:defRPr>
            </a:pPr>
            <a:r>
              <a:t>Paperxlip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 Workforce Orchestration for Programme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120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Mace Digital  |  Mace Consult  |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3E0"/>
                </a:solidFill>
                <a:latin typeface="Calibri"/>
              </a:defRPr>
            </a:pPr>
            <a:r>
              <a:t>Institutional knowledge is fragmented, ephemeral, and walks out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Every Mace Consult project is a knowledge silo — its own SharePoint, Dataverse, Teams, email threads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Critical context lives in the heads of senior people who leave or rotate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No mechanism to learn from one project and apply it to the next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Manual synthesis is bandwidth-limited: humans can't read everything, connect everything, remember everything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When a Programme Director leaves, years of institutional knowledge disappear overnight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Lessons learned decks are written, filed, and never read again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3E0"/>
                </a:solidFill>
                <a:latin typeface="Calibri"/>
              </a:defRPr>
            </a:pPr>
            <a:r>
              <a:t>The synthesis layer is the most valuable layer in enterprise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Salesforce is worth $250B for owning customer data. ServiceNow is worth $200B for owning IT workflow data.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company that owns the synthesis layer across all enterprise data is worth more than both combined.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OpenAI is betting $600B that they can build this. Goldman Sachs just invested in Mace Consult to build digital tools.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Mace Consult sits on decades of programme delivery knowledge across hospitals, defence, transport, data centres.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First mover in construction AI workforce = competitive moat that compounds with every project delivered.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This isn't a tool. It's an institutional memory that gets smarter with every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Paperxlip?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3E0"/>
                </a:solidFill>
                <a:latin typeface="Calibri"/>
              </a:defRPr>
            </a:pPr>
            <a:r>
              <a:t>An AI workforce that never forgets, never leaves, and learns from every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For each Mace Consult project, Paperxlip deploys a team of AI agents: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Programme Agent — coordinates all agents, produces weekly summaries, escalates to human SRO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Risk Agent — monitors risk registers, flags emerging risks, finds precedent from other projects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Commercial Agent — tracks variations and compensation events, drafts NEC4 responses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Compliance Agent — checks RIBA stage gates, CDM, Building Safety Act, NHS requirements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Knowledge Agent — continuously ingests documents, maintains searchable project knowledge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94560"/>
            <a:ext cx="4846320" cy="384048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37744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Mace Context Layer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  <a:r>
              <a:t>━━━━━━━━━━━━━━━━━━━━━━━━━━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  <a:r>
              <a:t>SharePoint  ·  Dataverse  ·  Teams  ·  Email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  <a:r>
              <a:t>         ↓  ingest + embed  ↓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</a:p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    Vector Store (pgvector)</a:t>
            </a:r>
          </a:p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    Semantic search across ALL projects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  <a:r>
              <a:t>         ↓  query  ↓</a:t>
            </a:r>
          </a:p>
          <a:p>
            <a:pPr algn="ctr">
              <a:defRPr sz="1200">
                <a:solidFill>
                  <a:srgbClr val="9999BB"/>
                </a:solidFill>
                <a:latin typeface="Consolas"/>
              </a:defRPr>
            </a:pPr>
          </a:p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    Agent Workforce</a:t>
            </a:r>
          </a:p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    Risk · Commercial · Programme</a:t>
            </a:r>
          </a:p>
          <a:p>
            <a:pPr algn="ctr">
              <a:defRPr sz="1200">
                <a:solidFill>
                  <a:srgbClr val="00A3E0"/>
                </a:solidFill>
                <a:latin typeface="Consolas"/>
              </a:defRPr>
            </a:pPr>
            <a:r>
              <a:t>    Compliance · Knowledge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Knowledge</a:t>
            </a:r>
            <a:br/>
            <a:r>
              <a:t>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Senior staff rotate or leave.</a:t>
            </a:r>
            <a:br/>
            <a:r>
              <a:t>The knowledge stays.</a:t>
            </a:r>
            <a:br/>
            <a:r>
              <a:t>Zero institutional memory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Cross-Project</a:t>
            </a:r>
            <a:br/>
            <a:r>
              <a:t>Precedent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Risk patterns, commercial decisions,</a:t>
            </a:r>
            <a:br/>
            <a:r>
              <a:t>regulatory approaches — learned</a:t>
            </a:r>
            <a:br/>
            <a:r>
              <a:t>once, applied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Faster</a:t>
            </a:r>
            <a:br/>
            <a:r>
              <a:t>Mobilisation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New projects deploy an AI team</a:t>
            </a:r>
            <a:br/>
            <a:r>
              <a:t>pre-loaded with Mace precedent.</a:t>
            </a:r>
            <a:br/>
            <a:r>
              <a:t>Weeks of ramp-up →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3E0"/>
                </a:solidFill>
                <a:latin typeface="Calibri"/>
              </a:defRPr>
            </a:pPr>
            <a:r>
              <a:t>Bid</a:t>
            </a:r>
            <a:br/>
            <a: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7432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Lessons from delivery feed back</a:t>
            </a:r>
            <a:br/>
            <a:r>
              <a:t>into proposals. Win rates improve</a:t>
            </a:r>
            <a:br/>
            <a:r>
              <a:t>because bids are evidence-based.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10698480" cy="120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Mace Consult: ~$1B revenue  ·  5,500+ specialists  ·  6 continents  ·  Decades of programme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1. Onboard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Connect a project's SharePoint site,</a:t>
            </a:r>
            <a:br/>
            <a:r>
              <a:t>Dataverse environment, and</a:t>
            </a:r>
            <a:br/>
            <a:r>
              <a:t>Teams channels to the</a:t>
            </a:r>
            <a:br/>
            <a:r>
              <a:t>Mace Context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2.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Select a project template</a:t>
            </a:r>
            <a:br/>
            <a:r>
              <a:t>(NHP, defence, transport, data centre).</a:t>
            </a:r>
            <a:br/>
            <a:r>
              <a:t>AI agents deploy with</a:t>
            </a:r>
            <a:br/>
            <a:r>
              <a:t>role-appropriate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3.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Knowledge Agent continuously</a:t>
            </a:r>
            <a:br/>
            <a:r>
              <a:t>scans for new documents.</a:t>
            </a:r>
            <a:br/>
            <a:r>
              <a:t>Chunks, embeds, and indexes</a:t>
            </a:r>
            <a:br/>
            <a:r>
              <a:t>into the vector store.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4.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Agents wake on schedule,</a:t>
            </a:r>
            <a:br/>
            <a:r>
              <a:t>check for tasks, act autonomously.</a:t>
            </a:r>
            <a:br/>
            <a:r>
              <a:t>Risk flags, commercial drafts,</a:t>
            </a:r>
            <a:br/>
            <a:r>
              <a:t>compliance checks — all tracked.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A3E0"/>
                </a:solidFill>
                <a:latin typeface="Calibri"/>
              </a:defRPr>
            </a:pPr>
            <a:r>
              <a:t>5. 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28600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Every project enriches the</a:t>
            </a:r>
            <a:br/>
            <a:r>
              <a:t>Mace Context. New projects</a:t>
            </a:r>
            <a:br/>
            <a:r>
              <a:t>launch with the full weight</a:t>
            </a:r>
            <a:br/>
            <a:r>
              <a:t>of institutional precedent.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44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44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44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44466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3E0"/>
                </a:solidFill>
                <a:latin typeface="Calibri"/>
              </a:defRPr>
            </a:pPr>
            <a:r>
              <a:t>Working prototype — NHP is the first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Open-source orchestration engine (fork of Paperclip, MIT licence) — running locally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NHP company created with Programme Agent deployed on Claude Code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Project template system — nhp.json defines 5 agents, org chart, goals, data sources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Mace Context database schema with pgvector for semantic search (HNSW cosine index)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SharePoint and Dataverse ingestor scaffolding (Microsoft Graph API)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Cross-project precedent search — query any project, get relevant knowledge from all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Full dashboard with real-time agent monitoring, cost tracking, and audit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698480" cy="120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github.com/stephencummins/paperxlip  ·  Built in 1 day  ·  Ready to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E0"/>
                </a:solidFill>
                <a:latin typeface="Calibri"/>
              </a:defRPr>
            </a:pPr>
            <a:r>
              <a:t>Azure AD App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83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Application permissions for Microsoft Graph (Sites.Read.All)</a:t>
            </a:r>
            <a:br/>
            <a:r>
              <a:t>and Dataverse API access across project tenants.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E0"/>
                </a:solidFill>
                <a:latin typeface="Calibri"/>
              </a:defRPr>
            </a:pPr>
            <a:r>
              <a:t>Compute &amp; API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71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Cloud hosting for the orchestration engine and vector database.</a:t>
            </a:r>
            <a:br/>
            <a:r>
              <a:t>AI API costs for agent execution and embedding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E0"/>
                </a:solidFill>
                <a:latin typeface="Calibri"/>
              </a:defRPr>
            </a:pPr>
            <a:r>
              <a:t>Pilot Project Sponsorship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1605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NHP as first live deployment. Access to real SharePoint data,</a:t>
            </a:r>
            <a:br/>
            <a:r>
              <a:t>risk registers, and commercial correspondence for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22223A"/>
          </a:solidFill>
          <a:ln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E0"/>
                </a:solidFill>
                <a:latin typeface="Calibri"/>
              </a:defRPr>
            </a:pPr>
            <a:r>
              <a:t>Mace Digital 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3492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2-3 dedicated engineers for 3 months to move from prototype</a:t>
            </a:r>
            <a:br/>
            <a:r>
              <a:t>to production-grade deployment across the NHP programme.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54864" cy="457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Mace Consult just became independent — this is the moment to define the digital strategy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Goldman Sachs backing is explicitly for 'digital tools that provide greater predictability, automation and control'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OpenAI, Anthropic, and Google are racing to build the enterprise synthesis layer — but none understand construction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Mace's competitors (Turner &amp; Townsend, Arcadis, Faithful+Gould) have no AI workforce capability yet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compound advantage: every project delivered makes the system smarter — competitors can't catch up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AI costs are falling 10x per year. What costs £50K/month today will cost £5K/month in 12 months.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The risk is not that this doesn't work. The risk is that someone else builds it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knowledge is already there.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A3E0"/>
                </a:solidFill>
                <a:latin typeface="Calibri"/>
              </a:defRPr>
            </a:pPr>
            <a:r>
              <a:t>Paperxlip makes it usable.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10698480" cy="1200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Stephen Cummins  ·  Mace Digital  ·  stephencummins@gmail.com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